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/>
            </a:pPr>
            <a:r>
              <a:t>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375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LegalEase – AI-Powered Legal Document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415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34557"/>
            <a:ext cx="12191695" cy="123443"/>
          </a:xfrm>
          <a:prstGeom prst="rect">
            <a:avLst/>
          </a:prstGeom>
          <a:solidFill>
            <a:srgbClr val="74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39" y="685800"/>
            <a:ext cx="3657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TEAM ID 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1234440"/>
            <a:ext cx="3657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TEAM NO –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83080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2743200"/>
          <a:ext cx="74980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3063240"/>
                <a:gridCol w="329184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Sl.No</a:t>
                      </a:r>
                    </a:p>
                  </a:txBody>
                  <a:tcPr anchor="ctr">
                    <a:solidFill>
                      <a:srgbClr val="5087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REGISTRATION NUMBER</a:t>
                      </a:r>
                    </a:p>
                  </a:txBody>
                  <a:tcPr anchor="ctr">
                    <a:solidFill>
                      <a:srgbClr val="5087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anchor="ctr">
                    <a:solidFill>
                      <a:srgbClr val="5087D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D41"/>
                          </a:solidFill>
                          <a:latin typeface="Arial"/>
                        </a:rPr>
                        <a:t>1.</a:t>
                      </a:r>
                    </a:p>
                  </a:txBody>
                  <a:tcPr anchor="ctr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D41"/>
                          </a:solidFill>
                          <a:latin typeface="Arial"/>
                        </a:rPr>
                        <a:t>222503931</a:t>
                      </a:r>
                    </a:p>
                  </a:txBody>
                  <a:tcPr anchor="ctr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D41"/>
                          </a:solidFill>
                          <a:latin typeface="Arial"/>
                        </a:rPr>
                        <a:t>LOGESWARI K</a:t>
                      </a:r>
                    </a:p>
                  </a:txBody>
                  <a:tcPr anchor="ctr">
                    <a:solidFill>
                      <a:srgbClr val="E8EC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D41"/>
                          </a:solidFill>
                          <a:latin typeface="Arial"/>
                        </a:rPr>
                        <a:t>2.</a:t>
                      </a:r>
                    </a:p>
                  </a:txBody>
                  <a:tcPr anchor="ctr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D41"/>
                          </a:solidFill>
                          <a:latin typeface="Arial"/>
                        </a:rPr>
                        <a:t>222503933</a:t>
                      </a:r>
                    </a:p>
                  </a:txBody>
                  <a:tcPr anchor="ctr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D41"/>
                          </a:solidFill>
                          <a:latin typeface="Arial"/>
                        </a:rPr>
                        <a:t>MONIKA S</a:t>
                      </a:r>
                    </a:p>
                  </a:txBody>
                  <a:tcPr anchor="ctr">
                    <a:solidFill>
                      <a:srgbClr val="E8EC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D41"/>
                          </a:solidFill>
                          <a:latin typeface="Arial"/>
                        </a:rPr>
                        <a:t>3.</a:t>
                      </a:r>
                    </a:p>
                  </a:txBody>
                  <a:tcPr anchor="ctr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D41"/>
                          </a:solidFill>
                          <a:latin typeface="Arial"/>
                        </a:rPr>
                        <a:t>222503926</a:t>
                      </a:r>
                    </a:p>
                  </a:txBody>
                  <a:tcPr anchor="ctr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D41"/>
                          </a:solidFill>
                          <a:latin typeface="Arial"/>
                        </a:rPr>
                        <a:t>BHAVANI M</a:t>
                      </a:r>
                    </a:p>
                  </a:txBody>
                  <a:tcPr anchor="ctr">
                    <a:solidFill>
                      <a:srgbClr val="E8EC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D41"/>
                          </a:solidFill>
                          <a:latin typeface="Arial"/>
                        </a:rPr>
                        <a:t>4.</a:t>
                      </a:r>
                    </a:p>
                  </a:txBody>
                  <a:tcPr anchor="ctr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D41"/>
                          </a:solidFill>
                          <a:latin typeface="Arial"/>
                        </a:rPr>
                        <a:t>222503930</a:t>
                      </a:r>
                    </a:p>
                  </a:txBody>
                  <a:tcPr anchor="ctr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D41"/>
                          </a:solidFill>
                          <a:latin typeface="Arial"/>
                        </a:rPr>
                        <a:t>KUMUTHA P</a:t>
                      </a:r>
                    </a:p>
                  </a:txBody>
                  <a:tcPr anchor="ctr">
                    <a:solidFill>
                      <a:srgbClr val="E8EC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415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34557"/>
            <a:ext cx="12191695" cy="123443"/>
          </a:xfrm>
          <a:prstGeom prst="rect">
            <a:avLst/>
          </a:prstGeom>
          <a:solidFill>
            <a:srgbClr val="74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1. Introduction / Start-up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LegalEase is an AI-powered platform for creating legal documents.</a:t>
            </a:r>
          </a:p>
          <a:p>
            <a:pPr>
              <a:spcAft>
                <a:spcPts val="800"/>
              </a:spcAft>
              <a:defRPr sz="1700"/>
            </a:pPr>
            <a:r>
              <a:t>• It uses Generative AI to simplify the legal document creation process.</a:t>
            </a:r>
          </a:p>
          <a:p>
            <a:pPr>
              <a:spcAft>
                <a:spcPts val="800"/>
              </a:spcAft>
              <a:defRPr sz="1700"/>
            </a:pPr>
            <a:r>
              <a:t>• Users can create documents without needing a legal background.</a:t>
            </a:r>
          </a:p>
          <a:p>
            <a:pPr>
              <a:spcAft>
                <a:spcPts val="800"/>
              </a:spcAft>
              <a:defRPr sz="1700"/>
            </a:pPr>
            <a:r>
              <a:t>• The system accepts document type, parties, terms and effective dates.</a:t>
            </a:r>
          </a:p>
          <a:p>
            <a:pPr>
              <a:spcAft>
                <a:spcPts val="800"/>
              </a:spcAft>
              <a:defRPr sz="1700"/>
            </a:pPr>
            <a:r>
              <a:t>• AI generates structured legal content based on the given inputs.</a:t>
            </a:r>
          </a:p>
          <a:p>
            <a:pPr>
              <a:spcAft>
                <a:spcPts val="800"/>
              </a:spcAft>
              <a:defRPr sz="1700"/>
            </a:pPr>
            <a:r>
              <a:t>• The generated content can be reviewed and edited by the user.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415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34557"/>
            <a:ext cx="12191695" cy="123443"/>
          </a:xfrm>
          <a:prstGeom prst="rect">
            <a:avLst/>
          </a:prstGeom>
          <a:solidFill>
            <a:srgbClr val="74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2.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LegalEase supports contracts, agreements, NDAs and lease agreements.</a:t>
            </a:r>
          </a:p>
          <a:p>
            <a:pPr>
              <a:spcAft>
                <a:spcPts val="800"/>
              </a:spcAft>
              <a:defRPr sz="1700"/>
            </a:pPr>
            <a:r>
              <a:t>• Users enter their required legal information through the interface.</a:t>
            </a:r>
          </a:p>
          <a:p>
            <a:pPr>
              <a:spcAft>
                <a:spcPts val="800"/>
              </a:spcAft>
              <a:defRPr sz="1700"/>
            </a:pPr>
            <a:r>
              <a:t>• The backend processes the request and connects with the AI model.</a:t>
            </a:r>
          </a:p>
          <a:p>
            <a:pPr>
              <a:spcAft>
                <a:spcPts val="800"/>
              </a:spcAft>
              <a:defRPr sz="1700"/>
            </a:pPr>
            <a:r>
              <a:t>• The AI generates a structured legal document.</a:t>
            </a:r>
          </a:p>
          <a:p>
            <a:pPr>
              <a:spcAft>
                <a:spcPts val="800"/>
              </a:spcAft>
              <a:defRPr sz="1700"/>
            </a:pPr>
            <a:r>
              <a:t>• Users can preview and edit the generated document.</a:t>
            </a:r>
          </a:p>
          <a:p>
            <a:pPr>
              <a:spcAft>
                <a:spcPts val="800"/>
              </a:spcAft>
              <a:defRPr sz="1700"/>
            </a:pPr>
            <a:r>
              <a:t>• The final document can be exported in multiple formats.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415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34557"/>
            <a:ext cx="12191695" cy="123443"/>
          </a:xfrm>
          <a:prstGeom prst="rect">
            <a:avLst/>
          </a:prstGeom>
          <a:solidFill>
            <a:srgbClr val="74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3. Project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AI-generated legal document based on user inputs.</a:t>
            </a:r>
          </a:p>
          <a:p>
            <a:pPr>
              <a:spcAft>
                <a:spcPts val="800"/>
              </a:spcAft>
              <a:defRPr sz="1700"/>
            </a:pPr>
            <a:r>
              <a:t>• Editable preview of the generated document.</a:t>
            </a:r>
          </a:p>
          <a:p>
            <a:pPr>
              <a:spcAft>
                <a:spcPts val="800"/>
              </a:spcAft>
              <a:defRPr sz="1700"/>
            </a:pPr>
            <a:r>
              <a:t>• Professional document structure and formatting.</a:t>
            </a:r>
          </a:p>
          <a:p>
            <a:pPr>
              <a:spcAft>
                <a:spcPts val="800"/>
              </a:spcAft>
              <a:defRPr sz="1700"/>
            </a:pPr>
            <a:r>
              <a:t>• Logo and branding can be included in the output.</a:t>
            </a:r>
          </a:p>
          <a:p>
            <a:pPr>
              <a:spcAft>
                <a:spcPts val="800"/>
              </a:spcAft>
              <a:defRPr sz="1700"/>
            </a:pPr>
            <a:r>
              <a:t>• Terms can be displayed in a structured table.</a:t>
            </a:r>
          </a:p>
          <a:p>
            <a:pPr>
              <a:spcAft>
                <a:spcPts val="800"/>
              </a:spcAft>
              <a:defRPr sz="1700"/>
            </a:pPr>
            <a:r>
              <a:t>• Output can be downloaded as TXT, DOCX or PDF.</a:t>
            </a:r>
          </a:p>
          <a:p>
            <a:pPr>
              <a:spcAft>
                <a:spcPts val="800"/>
              </a:spcAft>
              <a:defRPr sz="1700"/>
            </a:pPr>
            <a:r>
              <a:t>• PDF and DOCX outputs can include headers and footers.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415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34557"/>
            <a:ext cx="12191695" cy="123443"/>
          </a:xfrm>
          <a:prstGeom prst="rect">
            <a:avLst/>
          </a:prstGeom>
          <a:solidFill>
            <a:srgbClr val="74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4.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AI-powered legal document generation.</a:t>
            </a:r>
          </a:p>
          <a:p>
            <a:pPr>
              <a:spcAft>
                <a:spcPts val="800"/>
              </a:spcAft>
              <a:defRPr sz="1700"/>
            </a:pPr>
            <a:r>
              <a:t>• Customizable document templates and content.</a:t>
            </a:r>
          </a:p>
          <a:p>
            <a:pPr>
              <a:spcAft>
                <a:spcPts val="800"/>
              </a:spcAft>
              <a:defRPr sz="1700"/>
            </a:pPr>
            <a:r>
              <a:t>• Editable document preview.</a:t>
            </a:r>
          </a:p>
          <a:p>
            <a:pPr>
              <a:spcAft>
                <a:spcPts val="800"/>
              </a:spcAft>
              <a:defRPr sz="1700"/>
            </a:pPr>
            <a:r>
              <a:t>• Automatic terms table generation.</a:t>
            </a:r>
          </a:p>
          <a:p>
            <a:pPr>
              <a:spcAft>
                <a:spcPts val="800"/>
              </a:spcAft>
              <a:defRPr sz="1700"/>
            </a:pPr>
            <a:r>
              <a:t>• Professional formatting for legal documents.</a:t>
            </a:r>
          </a:p>
          <a:p>
            <a:pPr>
              <a:spcAft>
                <a:spcPts val="800"/>
              </a:spcAft>
              <a:defRPr sz="1700"/>
            </a:pPr>
            <a:r>
              <a:t>• Custom branding with logos and fonts.</a:t>
            </a:r>
          </a:p>
          <a:p>
            <a:pPr>
              <a:spcAft>
                <a:spcPts val="800"/>
              </a:spcAft>
              <a:defRPr sz="1700"/>
            </a:pPr>
            <a:r>
              <a:t>• Multiple download formats: TXT, DOCX and PDF.</a:t>
            </a:r>
          </a:p>
          <a:p>
            <a:pPr>
              <a:spcAft>
                <a:spcPts val="800"/>
              </a:spcAft>
              <a:defRPr sz="1700"/>
            </a:pPr>
            <a:r>
              <a:t>• Secure handling of sensitive user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415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34557"/>
            <a:ext cx="12191695" cy="123443"/>
          </a:xfrm>
          <a:prstGeom prst="rect">
            <a:avLst/>
          </a:prstGeom>
          <a:solidFill>
            <a:srgbClr val="74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5. 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Python – main programming language.</a:t>
            </a:r>
          </a:p>
          <a:p>
            <a:pPr>
              <a:spcAft>
                <a:spcPts val="800"/>
              </a:spcAft>
              <a:defRPr sz="1700"/>
            </a:pPr>
            <a:r>
              <a:t>• Streamlit – frontend and user interface.</a:t>
            </a:r>
          </a:p>
          <a:p>
            <a:pPr>
              <a:spcAft>
                <a:spcPts val="800"/>
              </a:spcAft>
              <a:defRPr sz="1700"/>
            </a:pPr>
            <a:r>
              <a:t>• FastAPI – backend API framework.</a:t>
            </a:r>
          </a:p>
          <a:p>
            <a:pPr>
              <a:spcAft>
                <a:spcPts val="800"/>
              </a:spcAft>
              <a:defRPr sz="1700"/>
            </a:pPr>
            <a:r>
              <a:t>• Google Gemini API – AI-powered document generation.</a:t>
            </a:r>
          </a:p>
          <a:p>
            <a:pPr>
              <a:spcAft>
                <a:spcPts val="800"/>
              </a:spcAft>
              <a:defRPr sz="1700"/>
            </a:pPr>
            <a:r>
              <a:t>• python-docx – creates and formats Word documents.</a:t>
            </a:r>
          </a:p>
          <a:p>
            <a:pPr>
              <a:spcAft>
                <a:spcPts val="800"/>
              </a:spcAft>
              <a:defRPr sz="1700"/>
            </a:pPr>
            <a:r>
              <a:t>• FPDF – creates formatted PDF documents.</a:t>
            </a:r>
          </a:p>
          <a:p>
            <a:pPr>
              <a:spcAft>
                <a:spcPts val="800"/>
              </a:spcAft>
              <a:defRPr sz="1700"/>
            </a:pPr>
            <a:r>
              <a:t>• Pillow – supports image and logo handling.</a:t>
            </a:r>
          </a:p>
          <a:p>
            <a:pPr>
              <a:spcAft>
                <a:spcPts val="800"/>
              </a:spcAft>
              <a:defRPr sz="1700"/>
            </a:pPr>
            <a:r>
              <a:t>• python-dotenv – stores environment configuration such as API keys.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415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34557"/>
            <a:ext cx="12191695" cy="123443"/>
          </a:xfrm>
          <a:prstGeom prst="rect">
            <a:avLst/>
          </a:prstGeom>
          <a:solidFill>
            <a:srgbClr val="74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6.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Step 1: Select the required document type.</a:t>
            </a:r>
          </a:p>
          <a:p>
            <a:pPr>
              <a:spcAft>
                <a:spcPts val="800"/>
              </a:spcAft>
              <a:defRPr sz="1700"/>
            </a:pPr>
            <a:r>
              <a:t>• Step 2: Enter the parties involved.</a:t>
            </a:r>
          </a:p>
          <a:p>
            <a:pPr>
              <a:spcAft>
                <a:spcPts val="800"/>
              </a:spcAft>
              <a:defRPr sz="1700"/>
            </a:pPr>
            <a:r>
              <a:t>• Step 3: Enter terms and conditions.</a:t>
            </a:r>
          </a:p>
          <a:p>
            <a:pPr>
              <a:spcAft>
                <a:spcPts val="800"/>
              </a:spcAft>
              <a:defRPr sz="1700"/>
            </a:pPr>
            <a:r>
              <a:t>• Step 4: Enter the effective date.</a:t>
            </a:r>
          </a:p>
          <a:p>
            <a:pPr>
              <a:spcAft>
                <a:spcPts val="800"/>
              </a:spcAft>
              <a:defRPr sz="1700"/>
            </a:pPr>
            <a:r>
              <a:t>• Step 5: Click “Generate Document”.</a:t>
            </a:r>
          </a:p>
          <a:p>
            <a:pPr>
              <a:spcAft>
                <a:spcPts val="800"/>
              </a:spcAft>
              <a:defRPr sz="1700"/>
            </a:pPr>
            <a:r>
              <a:t>• Step 6: The request is sent to the FastAPI backend.</a:t>
            </a:r>
          </a:p>
          <a:p>
            <a:pPr>
              <a:spcAft>
                <a:spcPts val="800"/>
              </a:spcAft>
              <a:defRPr sz="1700"/>
            </a:pPr>
            <a:r>
              <a:t>• Step 7: Gemini generates the legal content.</a:t>
            </a:r>
          </a:p>
          <a:p>
            <a:pPr>
              <a:spcAft>
                <a:spcPts val="800"/>
              </a:spcAft>
              <a:defRPr sz="1700"/>
            </a:pPr>
            <a:r>
              <a:t>• Step 8: Preview and edit the generated document.</a:t>
            </a:r>
          </a:p>
          <a:p>
            <a:pPr>
              <a:spcAft>
                <a:spcPts val="800"/>
              </a:spcAft>
              <a:defRPr sz="1700"/>
            </a:pPr>
            <a:r>
              <a:t>• Step 9: Download the final document as TXT, DOCX or PDF.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415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34557"/>
            <a:ext cx="12191695" cy="123443"/>
          </a:xfrm>
          <a:prstGeom prst="rect">
            <a:avLst/>
          </a:prstGeom>
          <a:solidFill>
            <a:srgbClr val="74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7.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Frontend – Streamlit collects user input and displays the document.</a:t>
            </a:r>
          </a:p>
          <a:p>
            <a:pPr>
              <a:spcAft>
                <a:spcPts val="800"/>
              </a:spcAft>
              <a:defRPr sz="1700"/>
            </a:pPr>
            <a:r>
              <a:t>• Backend – FastAPI receives and processes API requests.</a:t>
            </a:r>
          </a:p>
          <a:p>
            <a:pPr>
              <a:spcAft>
                <a:spcPts val="800"/>
              </a:spcAft>
              <a:defRPr sz="1700"/>
            </a:pPr>
            <a:r>
              <a:t>• API Endpoint – /generate accepts document details.</a:t>
            </a:r>
          </a:p>
          <a:p>
            <a:pPr>
              <a:spcAft>
                <a:spcPts val="800"/>
              </a:spcAft>
              <a:defRPr sz="1700"/>
            </a:pPr>
            <a:r>
              <a:t>• AI Core – GeminiDocumentGenerator sends structured prompts to Gemini.</a:t>
            </a:r>
          </a:p>
          <a:p>
            <a:pPr>
              <a:spcAft>
                <a:spcPts val="800"/>
              </a:spcAft>
              <a:defRPr sz="1700"/>
            </a:pPr>
            <a:r>
              <a:t>• AI Response – generated legal content is returned to the backend.</a:t>
            </a:r>
          </a:p>
          <a:p>
            <a:pPr>
              <a:spcAft>
                <a:spcPts val="800"/>
              </a:spcAft>
              <a:defRPr sz="1700"/>
            </a:pPr>
            <a:r>
              <a:t>• Formatting Modules – create DOCX, PDF and TXT versions.</a:t>
            </a:r>
          </a:p>
          <a:p>
            <a:pPr>
              <a:spcAft>
                <a:spcPts val="800"/>
              </a:spcAft>
              <a:defRPr sz="1700"/>
            </a:pPr>
            <a:r>
              <a:t>• Frontend displays the generated result for editing and download.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415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34557"/>
            <a:ext cx="12191695" cy="123443"/>
          </a:xfrm>
          <a:prstGeom prst="rect">
            <a:avLst/>
          </a:prstGeom>
          <a:solidFill>
            <a:srgbClr val="74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LegalEase – AI-Powered Legal Document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415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34557"/>
            <a:ext cx="12191695" cy="123443"/>
          </a:xfrm>
          <a:prstGeom prst="rect">
            <a:avLst/>
          </a:prstGeom>
          <a:solidFill>
            <a:srgbClr val="74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